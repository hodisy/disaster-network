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6e0344cf640ed" /><Relationship Type="http://schemas.openxmlformats.org/officeDocument/2006/relationships/extended-properties" Target="/docProps/app.xml" Id="Rde6af2085d024d82" /><Relationship Type="http://schemas.openxmlformats.org/officeDocument/2006/relationships/officeDocument" Target="/ppt/presentation.xml" Id="R0f55acbd13a747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97de87457243fc"/>
  </p:sldMasterIdLst>
  <p:notesMasterIdLst>
    <p:notesMasterId xmlns:r="http://schemas.openxmlformats.org/officeDocument/2006/relationships" r:id="Rc4577751a90d4598"/>
  </p:notesMasterIdLst>
  <p:sldIdLst>
    <p:sldId xmlns:r="http://schemas.openxmlformats.org/officeDocument/2006/relationships" id="256" r:id="R725d1028964748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e0c914872045d1" /><Relationship Type="http://schemas.openxmlformats.org/officeDocument/2006/relationships/slideMaster" Target="/ppt/slideMasters/slideMaster1.xml" Id="R7d97de87457243fc" /><Relationship Type="http://schemas.openxmlformats.org/officeDocument/2006/relationships/notesMaster" Target="/ppt/notesMasters/notesMaster1.xml" Id="Rc4577751a90d4598" /><Relationship Type="http://schemas.openxmlformats.org/officeDocument/2006/relationships/presProps" Target="/ppt/presProps.xml" Id="Rd521d45e65194752" /><Relationship Type="http://schemas.openxmlformats.org/officeDocument/2006/relationships/tableStyles" Target="/ppt/tableStyles.xml" Id="R2c55059334924903" /><Relationship Type="http://schemas.openxmlformats.org/officeDocument/2006/relationships/slide" Target="/ppt/slides/slide1.xml" Id="R725d1028964748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6fcb1097044e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55e9dd31154be7" /><Relationship Type="http://schemas.openxmlformats.org/officeDocument/2006/relationships/notesMaster" Target="/ppt/notesMasters/notesMaster1.xml" Id="Rf18b3fafa216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buyer: claims/assistance leaders at a French home insurer or claims administrator (TPA). Proposed first-users strategy, not existing customer traction: direct outreach and a narrowly scoped paid pilot with historical flood cases.</a:t>
            </a:r>
          </a:p>
          <a:p xmlns:a="http://schemas.openxmlformats.org/drawingml/2006/main">
            <a:r>
              <a:t>Working data flow in source: browser voice via WebRTC; Nitro executes bounded identity/policy/claim tools; PostgreSQL on Aiven holds three fictional customers, one policy each, policy text sections and Jules's reserved claim. The 80-household insurer portfolio is a separate frontend synthetic fixture, not 80 DB-backed customers. File previews remain local; no live weather, real bookings, payments or coverage approvals.</a:t>
            </a:r>
          </a:p>
          <a:p xmlns:a="http://schemas.openxmlformats.org/drawingml/2006/main">
            <a:r>
              <a:t>Evidence: bun run scripts/submission-benchmark.js. The real useInsurerWorkspace replan/applyPlan code handles one Delta Drying outage. Baseline selects the first available matching provider without remaining capacity. Both receive the same two affected missions. Baseline: zero feasible replacements, two capacity violations; application: two feasible replacements, no capacity violation. Three blocked missions and all unrelated missions are preserved. Dataset 80 households/170 people, 10 providers. This is a deterministic data/rules comparison, not an AI reasoning or production benchmark.</a:t>
            </a:r>
          </a:p>
          <a:p xmlns:a="http://schemas.openxmlformats.org/drawingml/2006/main">
            <a:r>
              <a:t>Financial hypothesis: manual 30 min × €50/hour = €25/intake. With automation, 2 min oversight + 30% escalated × 20 min = 8 min mean human time; €6.67 + assumed €2 AI/infrastructure = €8.67. Excludes software subscription, integration, maintenance, indemnities and actual field intervention costs. No measured financial result.</a:t>
            </a:r>
          </a:p>
          <a:p xmlns:a="http://schemas.openxmlformats.org/drawingml/2006/main">
            <a:r>
              <a:t>French pitch: Disaster Network relie hotline automatisée et opérations pour absorber les pics de sinistres, accélérer l’assistance et optimiser les coûts. Les règles vérifient les contraintes avant les actions; les dossiers ambigus restent à valider par un humain.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2f655c2ed4b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435b7e9a640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8e7bb36c146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5bb05015549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e0e64eb584f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6822bdbb743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25EA45-F211-41C6-AF38-BE3D2F1803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ACADEA-D70D-444F-9AE4-BE270FA9AE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43336E-14FD-4485-9613-B0A4C832D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220A20-D769-4D11-BF6A-1753C4D0A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B84D6D-B083-49CC-8157-9AE61E9597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996279-14E2-44CD-B30C-4287A981E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35694F-B322-4A3B-86CF-905045F3B2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AD401F-8E94-4FD5-AC2A-8291EB5919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3F344C-5E84-41C8-87D4-D77D09F43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3BF09A-9050-41F9-926F-0AEB101FA4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f2c6a06c814f4e" /><Relationship Type="http://schemas.openxmlformats.org/officeDocument/2006/relationships/slideLayout" Target="/ppt/slideLayouts/slideLayout1.xml" Id="R74e88d8393a74e4e" /><Relationship Type="http://schemas.openxmlformats.org/officeDocument/2006/relationships/slideLayout" Target="/ppt/slideLayouts/slideLayout2.xml" Id="Raf522d5e638942f6" /><Relationship Type="http://schemas.openxmlformats.org/officeDocument/2006/relationships/slideLayout" Target="/ppt/slideLayouts/slideLayout3.xml" Id="Rc5c2c3900e3c4f3e" /><Relationship Type="http://schemas.openxmlformats.org/officeDocument/2006/relationships/slideLayout" Target="/ppt/slideLayouts/slideLayout4.xml" Id="R5a581338628e447e" /><Relationship Type="http://schemas.openxmlformats.org/officeDocument/2006/relationships/slideLayout" Target="/ppt/slideLayouts/slideLayout5.xml" Id="R19124b5c7d0749a2" /><Relationship Type="http://schemas.openxmlformats.org/officeDocument/2006/relationships/slideLayout" Target="/ppt/slideLayouts/slideLayout6.xml" Id="R12e78259ff9c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e88d8393a74e4e"/>
    <p:sldLayoutId xmlns:r="http://schemas.openxmlformats.org/officeDocument/2006/relationships" id="2147483650" r:id="Raf522d5e638942f6"/>
    <p:sldLayoutId xmlns:r="http://schemas.openxmlformats.org/officeDocument/2006/relationships" id="2147483651" r:id="Rc5c2c3900e3c4f3e"/>
    <p:sldLayoutId xmlns:r="http://schemas.openxmlformats.org/officeDocument/2006/relationships" id="2147483652" r:id="R5a581338628e447e"/>
    <p:sldLayoutId xmlns:r="http://schemas.openxmlformats.org/officeDocument/2006/relationships" id="2147483653" r:id="R19124b5c7d0749a2"/>
    <p:sldLayoutId xmlns:r="http://schemas.openxmlformats.org/officeDocument/2006/relationships" id="2147483654" r:id="R12e78259ff9c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527279c834dc1" /><Relationship Type="http://schemas.openxmlformats.org/officeDocument/2006/relationships/notesSlide" Target="/ppt/notesSlides/notesSlide1.xml" Id="R6463484238aa44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99FEE714-2102-46F9-AFBF-63902A79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9191B"/>
                </a:solidFill>
                <a:latin typeface="Arial"/>
                <a:ea typeface="Arial"/>
                <a:cs typeface="Arial"/>
              </a:rPr>
              <a:t>Disaster Network</a:t>
            </a:r>
          </a:p>
        </p:txBody>
      </p:sp>
      <p:sp>
        <p:nvSpPr>
          <p:cNvPr id="2" name="positioning">
            <a:extLst xmlns:a="http://schemas.openxmlformats.org/drawingml/2006/main">
              <a:ext uri="{FF2B5EF4-FFF2-40B4-BE49-F238E27FC236}">
                <a16:creationId xmlns:a16="http://schemas.microsoft.com/office/drawing/2014/main" id="{0E819214-AD58-4BDE-8FB1-6692A91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9191B"/>
                </a:solidFill>
                <a:latin typeface="Arial"/>
                <a:ea typeface="Arial"/>
                <a:cs typeface="Arial"/>
              </a:rPr>
              <a:t>AI-native crisis operations for insurers</a:t>
            </a:r>
          </a:p>
        </p:txBody>
      </p:sp>
      <p:sp>
        <p:nvSpPr>
          <p:cNvPr id="3" name="value">
            <a:extLst xmlns:a="http://schemas.openxmlformats.org/drawingml/2006/main">
              <a:ext uri="{FF2B5EF4-FFF2-40B4-BE49-F238E27FC236}">
                <a16:creationId xmlns:a16="http://schemas.microsoft.com/office/drawing/2014/main" id="{A4D96646-6652-4121-81D2-DC43578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5B63"/>
                </a:solidFill>
                <a:latin typeface="Arial"/>
                <a:ea typeface="Arial"/>
                <a:cs typeface="Arial"/>
              </a:rPr>
              <a:t>Absorb claim surges. Accelerate assistance. Optimize operating costs.</a:t>
            </a:r>
          </a:p>
        </p:txBody>
      </p:sp>
      <p:sp>
        <p:nvSpPr>
          <p:cNvPr id="4" name="journey-heading">
            <a:extLst xmlns:a="http://schemas.openxmlformats.org/drawingml/2006/main">
              <a:ext uri="{FF2B5EF4-FFF2-40B4-BE49-F238E27FC236}">
                <a16:creationId xmlns:a16="http://schemas.microsoft.com/office/drawing/2014/main" id="{A805D22D-4DE1-49DB-B883-9AE83864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91B"/>
                </a:solidFill>
                <a:latin typeface="Arial"/>
                <a:ea typeface="Arial"/>
                <a:cs typeface="Arial"/>
              </a:rPr>
              <a:t>One claim, one coordinated response</a:t>
            </a:r>
          </a:p>
        </p:txBody>
      </p:sp>
      <p:sp>
        <p:nvSpPr>
          <p:cNvPr id="5" name="journey">
            <a:extLst xmlns:a="http://schemas.openxmlformats.org/drawingml/2006/main">
              <a:ext uri="{FF2B5EF4-FFF2-40B4-BE49-F238E27FC236}">
                <a16:creationId xmlns:a16="http://schemas.microsoft.com/office/drawing/2014/main" id="{A734C4E0-DB78-4968-AD3F-ADE532B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607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Voice intake → policy checks → confirmed report</a:t>
            </a:r>
          </a:p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Priority queue → assistance plan → provider replanning</a:t>
            </a:r>
          </a:p>
        </p:txBody>
      </p:sp>
      <p:sp>
        <p:nvSpPr>
          <p:cNvPr id="6" name="data">
            <a:extLst xmlns:a="http://schemas.openxmlformats.org/drawingml/2006/main">
              <a:ext uri="{FF2B5EF4-FFF2-40B4-BE49-F238E27FC236}">
                <a16:creationId xmlns:a16="http://schemas.microsoft.com/office/drawing/2014/main" id="{9066C311-C27E-4CB0-8C3A-39ADDD07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6076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5B63"/>
                </a:solidFill>
                <a:latin typeface="Arial"/>
                <a:ea typeface="Arial"/>
                <a:cs typeface="Arial"/>
              </a:rPr>
              <a:t>OpenAI tools + Nuxt/Nitro → Aiven PostgreSQL</a:t>
            </a:r>
          </a:p>
          <a:p xmlns:a="http://schemas.openxmlformats.org/drawingml/2006/main">
            <a: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5B63"/>
                </a:solidFill>
                <a:latin typeface="Arial"/>
                <a:ea typeface="Arial"/>
                <a:cs typeface="Arial"/>
              </a:rPr>
              <a:t>Jules: verified DB intake; 3 seeded customers</a:t>
            </a:r>
          </a:p>
          <a:p xmlns:a="http://schemas.openxmlformats.org/drawingml/2006/main">
            <a:pPr>
              <a:defRPr sz="1425" b="0">
                <a:solidFill>
                  <a:srgbClr val="5B5B6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5B63"/>
                </a:solidFill>
                <a:latin typeface="Arial"/>
                <a:ea typeface="Arial"/>
                <a:cs typeface="Arial"/>
              </a:rPr>
              <a:t>Operations: 80 synthetic households / 170 people</a:t>
            </a:r>
          </a:p>
        </p:txBody>
      </p:sp>
      <p:sp>
        <p:nvSpPr>
          <p:cNvPr id="7" name="proof-heading">
            <a:extLst xmlns:a="http://schemas.openxmlformats.org/drawingml/2006/main">
              <a:ext uri="{FF2B5EF4-FFF2-40B4-BE49-F238E27FC236}">
                <a16:creationId xmlns:a16="http://schemas.microsoft.com/office/drawing/2014/main" id="{B5B93F8B-39E4-4BE7-9897-6EAEAD88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91B"/>
                </a:solidFill>
                <a:latin typeface="Arial"/>
                <a:ea typeface="Arial"/>
                <a:cs typeface="Arial"/>
              </a:rPr>
              <a:t>Resource-data benchmark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07C2E-5A13-41B2-B96C-25E87B5A92DB}"/>
              </a:ext>
            </a:extLst>
          </p:cNvPr>
          <p:cNvGraphicFramePr/>
          <p:nvPr/>
        </p:nvGraphicFramePr>
        <p:xfrm>
          <a:off xmlns:a="http://schemas.openxmlformats.org/drawingml/2006/main" x="7048500" y="2724150"/>
          <a:ext xmlns:a="http://schemas.openxmlformats.org/drawingml/2006/main" cx="46482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1104900"/>
                <a:gridCol w="1104900"/>
              </a:tblGrid>
              <a:tr h="4254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Two disrupted missions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2E5"/>
                      </a:solidFill>
                      <a:prstDash val="solid"/>
                    </a:lnL>
                    <a:lnR w="9525">
                      <a:solidFill>
                        <a:srgbClr val="E2E2E5"/>
                      </a:solidFill>
                      <a:prstDash val="solid"/>
                    </a:lnR>
                    <a:lnT w="9525">
                      <a:solidFill>
                        <a:srgbClr val="E2E2E5"/>
                      </a:solidFill>
                      <a:prstDash val="solid"/>
                    </a:lnT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3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Naive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2E5"/>
                      </a:solidFill>
                      <a:prstDash val="solid"/>
                    </a:lnR>
                    <a:lnT w="9525">
                      <a:solidFill>
                        <a:srgbClr val="E2E2E5"/>
                      </a:solidFill>
                      <a:prstDash val="solid"/>
                    </a:lnT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3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With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2E5"/>
                      </a:solidFill>
                      <a:prstDash val="solid"/>
                    </a:lnR>
                    <a:lnT w="9525">
                      <a:solidFill>
                        <a:srgbClr val="E2E2E5"/>
                      </a:solidFill>
                      <a:prstDash val="solid"/>
                    </a:lnT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3F3F4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Valid reassignments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2E5"/>
                      </a:solidFill>
                      <a:prstDash val="solid"/>
                    </a:lnL>
                    <a:lnR w="9525">
                      <a:solidFill>
                        <a:srgbClr val="E2E2E5"/>
                      </a:solidFill>
                      <a:prstDash val="solid"/>
                    </a:lnR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0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2E5"/>
                      </a:solidFill>
                      <a:prstDash val="solid"/>
                    </a:lnR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2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2E5"/>
                      </a:solidFill>
                      <a:prstDash val="solid"/>
                    </a:lnR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Capacity violations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2E5"/>
                      </a:solidFill>
                      <a:prstDash val="solid"/>
                    </a:lnL>
                    <a:lnR w="9525">
                      <a:solidFill>
                        <a:srgbClr val="E2E2E5"/>
                      </a:solidFill>
                      <a:prstDash val="solid"/>
                    </a:lnR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2E5"/>
                      </a:solidFill>
                      <a:prstDash val="solid"/>
                    </a:lnR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9191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2E5"/>
                      </a:solidFill>
                      <a:prstDash val="solid"/>
                    </a:lnR>
                    <a:lnB w="9525">
                      <a:solidFill>
                        <a:srgbClr val="E2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proof-scope">
            <a:extLst xmlns:a="http://schemas.openxmlformats.org/drawingml/2006/main">
              <a:ext uri="{FF2B5EF4-FFF2-40B4-BE49-F238E27FC236}">
                <a16:creationId xmlns:a16="http://schemas.microsoft.com/office/drawing/2014/main" id="{11C55629-3989-4CC6-8465-24A7D6C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870"/>
                </a:solidFill>
                <a:latin typeface="Arial"/>
                <a:ea typeface="Arial"/>
                <a:cs typeface="Arial"/>
              </a:rPr>
              <a:t>Baseline ignores capacity; one synthetic outage.</a:t>
            </a:r>
          </a:p>
          <a:p xmlns:a="http://schemas.openxmlformats.org/drawingml/2006/main">
            <a: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870"/>
                </a:solidFill>
                <a:latin typeface="Arial"/>
                <a:ea typeface="Arial"/>
                <a:cs typeface="Arial"/>
              </a:rPr>
              <a:t>3 blocked missions preserved; not an LLM benchmark.</a:t>
            </a:r>
          </a:p>
        </p:txBody>
      </p:sp>
      <p:sp>
        <p:nvSpPr>
          <p:cNvPr id="10" name="customer-heading">
            <a:extLst xmlns:a="http://schemas.openxmlformats.org/drawingml/2006/main">
              <a:ext uri="{FF2B5EF4-FFF2-40B4-BE49-F238E27FC236}">
                <a16:creationId xmlns:a16="http://schemas.microsoft.com/office/drawing/2014/main" id="{B8EF0855-6A33-465F-873E-7FE7A8B1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863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687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11" name="customer">
            <a:extLst xmlns:a="http://schemas.openxmlformats.org/drawingml/2006/main">
              <a:ext uri="{FF2B5EF4-FFF2-40B4-BE49-F238E27FC236}">
                <a16:creationId xmlns:a16="http://schemas.microsoft.com/office/drawing/2014/main" id="{B3D08D99-9AF0-4A35-8639-F364892F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Claims and assistance leaders</a:t>
            </a:r>
          </a:p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at home insurers and TPAs</a:t>
            </a:r>
          </a:p>
        </p:txBody>
      </p:sp>
      <p:sp>
        <p:nvSpPr>
          <p:cNvPr id="12" name="timing-heading">
            <a:extLst xmlns:a="http://schemas.openxmlformats.org/drawingml/2006/main">
              <a:ext uri="{FF2B5EF4-FFF2-40B4-BE49-F238E27FC236}">
                <a16:creationId xmlns:a16="http://schemas.microsoft.com/office/drawing/2014/main" id="{9225997C-BF62-42E4-80C5-25EE0D3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863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6870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3" name="timing">
            <a:extLst xmlns:a="http://schemas.openxmlformats.org/drawingml/2006/main">
              <a:ext uri="{FF2B5EF4-FFF2-40B4-BE49-F238E27FC236}">
                <a16:creationId xmlns:a16="http://schemas.microsoft.com/office/drawing/2014/main" id="{5C9EDD17-11DE-4679-9E11-CF46466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Crisis peaks exceed team capacity.</a:t>
            </a:r>
          </a:p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Voice agents can execute tools.</a:t>
            </a:r>
          </a:p>
        </p:txBody>
      </p:sp>
      <p:sp>
        <p:nvSpPr>
          <p:cNvPr id="14" name="acquisition-heading">
            <a:extLst xmlns:a="http://schemas.openxmlformats.org/drawingml/2006/main">
              <a:ext uri="{FF2B5EF4-FFF2-40B4-BE49-F238E27FC236}">
                <a16:creationId xmlns:a16="http://schemas.microsoft.com/office/drawing/2014/main" id="{34A3FE0B-F636-4DD5-B0B0-6C9E7F5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863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868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6870"/>
                </a:solidFill>
                <a:latin typeface="Arial"/>
                <a:ea typeface="Arial"/>
                <a:cs typeface="Arial"/>
              </a:rPr>
              <a:t>FIRST USERS</a:t>
            </a:r>
          </a:p>
        </p:txBody>
      </p:sp>
      <p:sp>
        <p:nvSpPr>
          <p:cNvPr id="15" name="acquisition">
            <a:extLst xmlns:a="http://schemas.openxmlformats.org/drawingml/2006/main">
              <a:ext uri="{FF2B5EF4-FFF2-40B4-BE49-F238E27FC236}">
                <a16:creationId xmlns:a16="http://schemas.microsoft.com/office/drawing/2014/main" id="{3F8EA68C-0DE3-4BCB-BB05-B9C1DFD2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Direct outreach to claims leaders.</a:t>
            </a:r>
          </a:p>
          <a:p xmlns:a="http://schemas.openxmlformats.org/drawingml/2006/main">
            <a:pPr>
              <a:defRPr sz="1575" b="0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91B"/>
                </a:solidFill>
                <a:latin typeface="Arial"/>
                <a:ea typeface="Arial"/>
                <a:cs typeface="Arial"/>
              </a:rPr>
              <a:t>One region, one flood-workflow pilot.</a:t>
            </a:r>
          </a:p>
        </p:txBody>
      </p:sp>
      <p:sp>
        <p:nvSpPr>
          <p:cNvPr id="16" name="economics">
            <a:extLst xmlns:a="http://schemas.openxmlformats.org/drawingml/2006/main">
              <a:ext uri="{FF2B5EF4-FFF2-40B4-BE49-F238E27FC236}">
                <a16:creationId xmlns:a16="http://schemas.microsoft.com/office/drawing/2014/main" id="{60FB0E8E-2B44-4D0E-9F51-0F6A6ED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2457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919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B"/>
                </a:solidFill>
                <a:latin typeface="Arial"/>
                <a:ea typeface="Arial"/>
                <a:cs typeface="Arial"/>
              </a:rPr>
              <a:t>Cost hypothesis: €25 → €8.67 / intake; ~65% lower. Assumed workflow, not measured savings.</a:t>
            </a:r>
          </a:p>
        </p:txBody>
      </p:sp>
      <p:sp>
        <p:nvSpPr>
          <p:cNvPr id="17" name="demo-link">
            <a:extLst xmlns:a="http://schemas.openxmlformats.org/drawingml/2006/main">
              <a:ext uri="{FF2B5EF4-FFF2-40B4-BE49-F238E27FC236}">
                <a16:creationId xmlns:a16="http://schemas.microsoft.com/office/drawing/2014/main" id="{A355202F-36A4-42DC-8D1E-CE25176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870"/>
                </a:solidFill>
                <a:latin typeface="Arial"/>
                <a:ea typeface="Arial"/>
                <a:cs typeface="Arial"/>
              </a:rPr>
              <a:t>getdisasternetwork.com   •   github.com/Hodisy/disaster-network</a:t>
            </a:r>
          </a:p>
        </p:txBody>
      </p:sp>
    </p:spTree>
    <p:extLst>
      <p:ext uri="{BB962C8B-B14F-4D97-AF65-F5344CB8AC3E}">
        <p14:creationId xmlns:p14="http://schemas.microsoft.com/office/powerpoint/2010/main" val="69694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2026-10-22T11:21:56.7920000Z</dcterms:created>
  <dcterms:modified xsi:type="dcterms:W3CDTF">2026-10-22T11:21:56.7920000Z</dcterms:modified>
</coreProperties>
</file>