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89976339b2483e" /><Relationship Type="http://schemas.openxmlformats.org/officeDocument/2006/relationships/extended-properties" Target="/docProps/app.xml" Id="R90b4cfb419a046de" /><Relationship Type="http://schemas.openxmlformats.org/officeDocument/2006/relationships/officeDocument" Target="/ppt/presentation.xml" Id="R768e651c50d24e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04e6aa523f4dad"/>
  </p:sldMasterIdLst>
  <p:notesMasterIdLst>
    <p:notesMasterId xmlns:r="http://schemas.openxmlformats.org/officeDocument/2006/relationships" r:id="Ree1247f6b0bd44aa"/>
  </p:notesMasterIdLst>
  <p:sldIdLst>
    <p:sldId xmlns:r="http://schemas.openxmlformats.org/officeDocument/2006/relationships" id="256" r:id="Rac7d92b2fccc44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aac89f5e744697" /><Relationship Type="http://schemas.openxmlformats.org/officeDocument/2006/relationships/slideMaster" Target="/ppt/slideMasters/slideMaster1.xml" Id="R7104e6aa523f4dad" /><Relationship Type="http://schemas.openxmlformats.org/officeDocument/2006/relationships/notesMaster" Target="/ppt/notesMasters/notesMaster1.xml" Id="Ree1247f6b0bd44aa" /><Relationship Type="http://schemas.openxmlformats.org/officeDocument/2006/relationships/presProps" Target="/ppt/presProps.xml" Id="R53963175af6942f3" /><Relationship Type="http://schemas.openxmlformats.org/officeDocument/2006/relationships/tableStyles" Target="/ppt/tableStyles.xml" Id="R1c1d8a6486d449ac" /><Relationship Type="http://schemas.openxmlformats.org/officeDocument/2006/relationships/slide" Target="/ppt/slides/slide1.xml" Id="Rac7d92b2fccc44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d50a5e353d49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e9bb971db04bb4" /><Relationship Type="http://schemas.openxmlformats.org/officeDocument/2006/relationships/notesMaster" Target="/ppt/notesMasters/notesMaster1.xml" Id="R0b2a26556a5742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buyer: claims/assistance leaders at a French home insurer or claims administrator (TPA). Proposed first-users strategy, not existing customer traction: direct outreach and a narrowly scoped paid pilot with historical flood cases.</a:t>
            </a:r>
          </a:p>
          <a:p xmlns:a="http://schemas.openxmlformats.org/drawingml/2006/main">
            <a:r>
              <a:t>Working data flow in source: browser voice via WebRTC; Nitro executes bounded identity/policy/claim tools; PostgreSQL on Aiven holds three fictional customers, one policy each, policy text sections and Jules's reserved claim. The 80-household insurer portfolio is a separate frontend synthetic fixture, not 80 DB-backed customers. File previews remain local; no live weather, real bookings, payments or coverage approvals.</a:t>
            </a:r>
          </a:p>
          <a:p xmlns:a="http://schemas.openxmlformats.org/drawingml/2006/main">
            <a:r>
              <a:t>Evidence: bun run scripts/submission-benchmark.js. The real useInsurerWorkspace replan/applyPlan code handles one Delta Drying outage. Baseline selects the first available matching provider without remaining capacity. Both receive the same two affected missions. Baseline: zero feasible replacements, two capacity violations; application: two feasible replacements, no capacity violation. Three blocked missions and all unrelated missions are preserved. Dataset 80 households/170 people, 10 providers. This is a deterministic data/rules comparison, not an AI reasoning or production benchmark.</a:t>
            </a:r>
          </a:p>
          <a:p xmlns:a="http://schemas.openxmlformats.org/drawingml/2006/main">
            <a:r>
              <a:t>Financial hypothesis: manual 30 min × €50/hour = €25/intake. With automation, 2 min oversight + 30% escalated × 20 min = 8 min mean human time; €6.67 + assumed €2 AI/infrastructure = €8.67. Excludes software subscription, integration, maintenance, indemnities and actual field intervention costs. No measured financial result.</a:t>
            </a:r>
          </a:p>
          <a:p xmlns:a="http://schemas.openxmlformats.org/drawingml/2006/main">
            <a:r>
              <a:t>French pitch: Disaster Network relie hotline automatisée et opérations pour absorber les pics de sinistres, accélérer l’assistance et optimiser les coûts. Les règles vérifient les contraintes avant les actions; les dossiers ambigus restent à valider par un humain.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0ae776e2547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073c84e624b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04c049f9444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8c7dd39be40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e5814acf949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dd4c20abb41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54FBFB-E235-4A61-BA03-7CD087E9F1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C09679-6400-48C5-88F6-44B89040EC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254231-82FB-4589-A6E4-9AB316538C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36AC1A-A300-4B11-AA1D-4EF283C73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A536A9-0A4E-46C3-860B-B4CFCA11D0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2AAB6E-41A2-4122-AA6D-BBE7C92093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94D6B5-FBE9-49B2-B828-C941A80F46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8A5D34-8663-4EE5-8D1A-90C11C868E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A4D988-3E27-412E-826F-DAAF769026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6DAE33-0C39-4F05-BA3E-8ED61E48E0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e821e1e3904461" /><Relationship Type="http://schemas.openxmlformats.org/officeDocument/2006/relationships/slideLayout" Target="/ppt/slideLayouts/slideLayout1.xml" Id="R7471e05a8f1b4802" /><Relationship Type="http://schemas.openxmlformats.org/officeDocument/2006/relationships/slideLayout" Target="/ppt/slideLayouts/slideLayout2.xml" Id="R2080a3d679124ee9" /><Relationship Type="http://schemas.openxmlformats.org/officeDocument/2006/relationships/slideLayout" Target="/ppt/slideLayouts/slideLayout3.xml" Id="Rcd5477c1d9f14b21" /><Relationship Type="http://schemas.openxmlformats.org/officeDocument/2006/relationships/slideLayout" Target="/ppt/slideLayouts/slideLayout4.xml" Id="R206c5c0a870d4636" /><Relationship Type="http://schemas.openxmlformats.org/officeDocument/2006/relationships/slideLayout" Target="/ppt/slideLayouts/slideLayout5.xml" Id="R5dd44eae37e84048" /><Relationship Type="http://schemas.openxmlformats.org/officeDocument/2006/relationships/slideLayout" Target="/ppt/slideLayouts/slideLayout6.xml" Id="Rcda2eac95a3a49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71e05a8f1b4802"/>
    <p:sldLayoutId xmlns:r="http://schemas.openxmlformats.org/officeDocument/2006/relationships" id="2147483650" r:id="R2080a3d679124ee9"/>
    <p:sldLayoutId xmlns:r="http://schemas.openxmlformats.org/officeDocument/2006/relationships" id="2147483651" r:id="Rcd5477c1d9f14b21"/>
    <p:sldLayoutId xmlns:r="http://schemas.openxmlformats.org/officeDocument/2006/relationships" id="2147483652" r:id="R206c5c0a870d4636"/>
    <p:sldLayoutId xmlns:r="http://schemas.openxmlformats.org/officeDocument/2006/relationships" id="2147483653" r:id="R5dd44eae37e84048"/>
    <p:sldLayoutId xmlns:r="http://schemas.openxmlformats.org/officeDocument/2006/relationships" id="2147483654" r:id="Rcda2eac95a3a49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8eb01ff3764505" /><Relationship Type="http://schemas.openxmlformats.org/officeDocument/2006/relationships/notesSlide" Target="/ppt/notesSlides/notesSlide1.xml" Id="Rb224617c3ddc49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E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92EB4-9399-4317-8C64-3F1BF91BCD8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229725" y="1905000"/>
            <a:ext cx="952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ED9D1"/>
            </a:solidFill>
            <a:tail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ED0CF-8346-4B11-9C80-B3C92F4CB106}"/>
              </a:ext>
            </a:extLst>
          </p:cNvPr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9620250" y="257175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ED9D1"/>
            </a:solidFill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06DC1-9D1C-4808-A642-9890D0F44644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7486650" y="257175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ED9D1"/>
            </a:solidFill>
            <a:tailEnd type="arrow" w="sm" len="sm"/>
          </a:ln>
        </p:spPr>
      </p:cxnSp>
      <p:sp>
        <p:nvSpPr>
          <p:cNvPr id="28" name="brand">
            <a:extLst xmlns:a="http://schemas.openxmlformats.org/drawingml/2006/main">
              <a:ext uri="{FF2B5EF4-FFF2-40B4-BE49-F238E27FC236}">
                <a16:creationId xmlns:a16="http://schemas.microsoft.com/office/drawing/2014/main" id="{7BDEC2F4-6DCB-47EB-A8EB-42A03BF3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Disaster Network</a:t>
            </a:r>
          </a:p>
        </p:txBody>
      </p:sp>
      <p:sp>
        <p:nvSpPr>
          <p:cNvPr id="2" name="category">
            <a:extLst xmlns:a="http://schemas.openxmlformats.org/drawingml/2006/main">
              <a:ext uri="{FF2B5EF4-FFF2-40B4-BE49-F238E27FC236}">
                <a16:creationId xmlns:a16="http://schemas.microsoft.com/office/drawing/2014/main" id="{73B5B7F9-4C0C-48F4-9301-8F4F5699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47D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47D5C"/>
                </a:solidFill>
                <a:latin typeface="Arial"/>
                <a:ea typeface="Arial"/>
                <a:cs typeface="Arial"/>
              </a:rPr>
              <a:t>AI-native crisis operations for insurers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ADDC28C6-AA52-4F75-B801-518F9CB3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47825"/>
            <a:ext cx="561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Keep claims moving</a:t>
            </a:r>
          </a:p>
          <a:p xmlns:a="http://schemas.openxmlformats.org/drawingml/2006/main">
            <a:pPr algn="l">
              <a:defRPr sz="42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when crisis hits.</a:t>
            </a:r>
          </a:p>
        </p:txBody>
      </p:sp>
      <p:sp>
        <p:nvSpPr>
          <p:cNvPr id="4" name="summary">
            <a:extLst xmlns:a="http://schemas.openxmlformats.org/drawingml/2006/main">
              <a:ext uri="{FF2B5EF4-FFF2-40B4-BE49-F238E27FC236}">
                <a16:creationId xmlns:a16="http://schemas.microsoft.com/office/drawing/2014/main" id="{0CA8230F-B0AD-497A-8A82-6FB9BEF0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4725"/>
            <a:ext cx="542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Automate the first call.</a:t>
            </a:r>
          </a:p>
          <a:p xmlns:a="http://schemas.openxmlformats.org/drawingml/2006/main">
            <a:pPr algn="l">
              <a:defRPr sz="19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Coordinate the response at scale.</a:t>
            </a:r>
          </a:p>
        </p:txBody>
      </p:sp>
      <p:sp>
        <p:nvSpPr>
          <p:cNvPr id="5" name="value">
            <a:extLst xmlns:a="http://schemas.openxmlformats.org/drawingml/2006/main">
              <a:ext uri="{FF2B5EF4-FFF2-40B4-BE49-F238E27FC236}">
                <a16:creationId xmlns:a16="http://schemas.microsoft.com/office/drawing/2014/main" id="{B8124CB8-04EC-4852-BC8D-47E39FCA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Faster assistance. Optimized costs.</a:t>
            </a:r>
          </a:p>
        </p:txBody>
      </p:sp>
      <p:sp>
        <p:nvSpPr>
          <p:cNvPr id="6" name="database">
            <a:extLst xmlns:a="http://schemas.openxmlformats.org/drawingml/2006/main">
              <a:ext uri="{FF2B5EF4-FFF2-40B4-BE49-F238E27FC236}">
                <a16:creationId xmlns:a16="http://schemas.microsoft.com/office/drawing/2014/main" id="{2D0EE668-E23B-4523-80DF-25643502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335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Aiven PostgreSQL</a:t>
            </a:r>
          </a:p>
          <a:p xmlns:a="http://schemas.openxmlformats.org/drawingml/2006/main">
            <a:pPr algn="ctr">
              <a:defRPr sz="142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Identity · Policy · Claim</a:t>
            </a:r>
          </a:p>
        </p:txBody>
      </p:sp>
      <p:sp>
        <p:nvSpPr>
          <p:cNvPr id="7" name="hotline-node">
            <a:extLst xmlns:a="http://schemas.openxmlformats.org/drawingml/2006/main">
              <a:ext uri="{FF2B5EF4-FFF2-40B4-BE49-F238E27FC236}">
                <a16:creationId xmlns:a16="http://schemas.microsoft.com/office/drawing/2014/main" id="{29DB9279-F090-4F0B-A0A5-52FB92A8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14288">
            <a:solidFill>
              <a:srgbClr val="CED9D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verified-node">
            <a:extLst xmlns:a="http://schemas.openxmlformats.org/drawingml/2006/main">
              <a:ext uri="{FF2B5EF4-FFF2-40B4-BE49-F238E27FC236}">
                <a16:creationId xmlns:a16="http://schemas.microsoft.com/office/drawing/2014/main" id="{4A2F8680-D53C-4BAC-98D4-7FAC73C3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1E8"/>
          </a:solidFill>
          <a:ln xmlns:a="http://schemas.openxmlformats.org/drawingml/2006/main" w="14288">
            <a:solidFill>
              <a:srgbClr val="A9C8B3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47D5C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9" name="operations-node">
            <a:extLst xmlns:a="http://schemas.openxmlformats.org/drawingml/2006/main">
              <a:ext uri="{FF2B5EF4-FFF2-40B4-BE49-F238E27FC236}">
                <a16:creationId xmlns:a16="http://schemas.microsoft.com/office/drawing/2014/main" id="{A3381849-2CD4-4340-85FA-D969BBD0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66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14288">
            <a:solidFill>
              <a:srgbClr val="CED9D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hotline-label">
            <a:extLst xmlns:a="http://schemas.openxmlformats.org/drawingml/2006/main">
              <a:ext uri="{FF2B5EF4-FFF2-40B4-BE49-F238E27FC236}">
                <a16:creationId xmlns:a16="http://schemas.microsoft.com/office/drawing/2014/main" id="{D43BC0D7-135B-4A55-9297-EA84B3F0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48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Hotline</a:t>
            </a:r>
          </a:p>
        </p:txBody>
      </p:sp>
      <p:sp>
        <p:nvSpPr>
          <p:cNvPr id="14" name="hotline-subtitle">
            <a:extLst xmlns:a="http://schemas.openxmlformats.org/drawingml/2006/main">
              <a:ext uri="{FF2B5EF4-FFF2-40B4-BE49-F238E27FC236}">
                <a16:creationId xmlns:a16="http://schemas.microsoft.com/office/drawing/2014/main" id="{6B134FB0-68FC-47F0-BE54-2440F9A3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Voice intake</a:t>
            </a:r>
          </a:p>
        </p:txBody>
      </p:sp>
      <p:sp>
        <p:nvSpPr>
          <p:cNvPr id="15" name="verified-label">
            <a:extLst xmlns:a="http://schemas.openxmlformats.org/drawingml/2006/main">
              <a:ext uri="{FF2B5EF4-FFF2-40B4-BE49-F238E27FC236}">
                <a16:creationId xmlns:a16="http://schemas.microsoft.com/office/drawing/2014/main" id="{4602D287-85F6-4970-B49B-DA4859F6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Verified claim</a:t>
            </a:r>
          </a:p>
        </p:txBody>
      </p:sp>
      <p:sp>
        <p:nvSpPr>
          <p:cNvPr id="16" name="verified-subtitle">
            <a:extLst xmlns:a="http://schemas.openxmlformats.org/drawingml/2006/main">
              <a:ext uri="{FF2B5EF4-FFF2-40B4-BE49-F238E27FC236}">
                <a16:creationId xmlns:a16="http://schemas.microsoft.com/office/drawing/2014/main" id="{4B4CE7B0-5462-439F-820C-64298660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81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Checks before action</a:t>
            </a:r>
          </a:p>
        </p:txBody>
      </p:sp>
      <p:sp>
        <p:nvSpPr>
          <p:cNvPr id="17" name="operations-label">
            <a:extLst xmlns:a="http://schemas.openxmlformats.org/drawingml/2006/main">
              <a:ext uri="{FF2B5EF4-FFF2-40B4-BE49-F238E27FC236}">
                <a16:creationId xmlns:a16="http://schemas.microsoft.com/office/drawing/2014/main" id="{131E43F3-2DD6-40EC-8A0F-0563DBB3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480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8" name="operations-subtitle">
            <a:extLst xmlns:a="http://schemas.openxmlformats.org/drawingml/2006/main">
              <a:ext uri="{FF2B5EF4-FFF2-40B4-BE49-F238E27FC236}">
                <a16:creationId xmlns:a16="http://schemas.microsoft.com/office/drawing/2014/main" id="{811BBE3B-641A-4523-BC77-C480394A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3813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Capacity + access</a:t>
            </a:r>
          </a:p>
        </p:txBody>
      </p:sp>
      <p:sp>
        <p:nvSpPr>
          <p:cNvPr id="19" name="proof-number">
            <a:extLst xmlns:a="http://schemas.openxmlformats.org/drawingml/2006/main">
              <a:ext uri="{FF2B5EF4-FFF2-40B4-BE49-F238E27FC236}">
                <a16:creationId xmlns:a16="http://schemas.microsoft.com/office/drawing/2014/main" id="{386B54BD-54EE-4902-9C44-374B851D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52875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447D5C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20" name="proof-explanation">
            <a:extLst xmlns:a="http://schemas.openxmlformats.org/drawingml/2006/main">
              <a:ext uri="{FF2B5EF4-FFF2-40B4-BE49-F238E27FC236}">
                <a16:creationId xmlns:a16="http://schemas.microsoft.com/office/drawing/2014/main" id="{5A8718BB-B635-4C41-B2BE-D6C11F17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95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valid reassignments</a:t>
            </a:r>
          </a:p>
          <a:p xmlns:a="http://schemas.openxmlformats.org/drawingml/2006/main">
            <a:pPr algn="l">
              <a:defRPr sz="142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vs 0/2 without capacity data</a:t>
            </a:r>
          </a:p>
        </p:txBody>
      </p:sp>
      <p:sp>
        <p:nvSpPr>
          <p:cNvPr id="21" name="proof-scope">
            <a:extLst xmlns:a="http://schemas.openxmlformats.org/drawingml/2006/main">
              <a:ext uri="{FF2B5EF4-FFF2-40B4-BE49-F238E27FC236}">
                <a16:creationId xmlns:a16="http://schemas.microsoft.com/office/drawing/2014/main" id="{705A70AE-2D70-43FA-B3C2-AD87E488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386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E77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E7771"/>
                </a:solidFill>
                <a:latin typeface="Arial"/>
                <a:ea typeface="Arial"/>
                <a:cs typeface="Arial"/>
              </a:rPr>
              <a:t>Rules benchmark · One synthetic outage · 3 blocked missions preserved</a:t>
            </a:r>
          </a:p>
        </p:txBody>
      </p:sp>
      <p:sp>
        <p:nvSpPr>
          <p:cNvPr id="22" name="for-label">
            <a:extLst xmlns:a="http://schemas.openxmlformats.org/drawingml/2006/main">
              <a:ext uri="{FF2B5EF4-FFF2-40B4-BE49-F238E27FC236}">
                <a16:creationId xmlns:a16="http://schemas.microsoft.com/office/drawing/2014/main" id="{D9E86F4D-F5B0-4814-B92A-3584ABCC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9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47D5C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23" name="for-copy">
            <a:extLst xmlns:a="http://schemas.openxmlformats.org/drawingml/2006/main">
              <a:ext uri="{FF2B5EF4-FFF2-40B4-BE49-F238E27FC236}">
                <a16:creationId xmlns:a16="http://schemas.microsoft.com/office/drawing/2014/main" id="{8DD0C3D8-575E-4BE9-ADEE-66ADF06E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81675"/>
            <a:ext cx="328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Claims and assistance teams</a:t>
            </a:r>
          </a:p>
          <a:p xmlns:a="http://schemas.openxmlformats.org/drawingml/2006/main">
            <a: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at insurers and TPAs</a:t>
            </a:r>
          </a:p>
        </p:txBody>
      </p:sp>
      <p:sp>
        <p:nvSpPr>
          <p:cNvPr id="24" name="why-label">
            <a:extLst xmlns:a="http://schemas.openxmlformats.org/drawingml/2006/main">
              <a:ext uri="{FF2B5EF4-FFF2-40B4-BE49-F238E27FC236}">
                <a16:creationId xmlns:a16="http://schemas.microsoft.com/office/drawing/2014/main" id="{D9EC4F40-F61D-489E-9239-0C13659E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419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47D5C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25" name="why-copy">
            <a:extLst xmlns:a="http://schemas.openxmlformats.org/drawingml/2006/main">
              <a:ext uri="{FF2B5EF4-FFF2-40B4-BE49-F238E27FC236}">
                <a16:creationId xmlns:a16="http://schemas.microsoft.com/office/drawing/2014/main" id="{56AF8118-98AD-4632-BF53-5B52CE4F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781675"/>
            <a:ext cx="328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Claim surges outpace teams.</a:t>
            </a:r>
          </a:p>
          <a:p xmlns:a="http://schemas.openxmlformats.org/drawingml/2006/main">
            <a: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Voice agents can now act.</a:t>
            </a:r>
          </a:p>
        </p:txBody>
      </p:sp>
      <p:sp>
        <p:nvSpPr>
          <p:cNvPr id="26" name="users-label">
            <a:extLst xmlns:a="http://schemas.openxmlformats.org/drawingml/2006/main">
              <a:ext uri="{FF2B5EF4-FFF2-40B4-BE49-F238E27FC236}">
                <a16:creationId xmlns:a16="http://schemas.microsoft.com/office/drawing/2014/main" id="{970A9651-CD1B-4443-9C73-E9D7A5BC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4197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47D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47D5C"/>
                </a:solidFill>
                <a:latin typeface="Arial"/>
                <a:ea typeface="Arial"/>
                <a:cs typeface="Arial"/>
              </a:rPr>
              <a:t>FIRST USERS</a:t>
            </a:r>
          </a:p>
        </p:txBody>
      </p:sp>
      <p:sp>
        <p:nvSpPr>
          <p:cNvPr id="27" name="users-copy">
            <a:extLst xmlns:a="http://schemas.openxmlformats.org/drawingml/2006/main">
              <a:ext uri="{FF2B5EF4-FFF2-40B4-BE49-F238E27FC236}">
                <a16:creationId xmlns:a16="http://schemas.microsoft.com/office/drawing/2014/main" id="{C6823114-088D-4619-BACF-B532C387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781675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Direct outreach to claims leaders.</a:t>
            </a:r>
          </a:p>
          <a:p xmlns:a="http://schemas.openxmlformats.org/drawingml/2006/main">
            <a:pPr algn="l">
              <a:defRPr sz="1575" b="0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One regional flood-response pilot.</a:t>
            </a:r>
          </a:p>
        </p:txBody>
      </p:sp>
    </p:spTree>
    <p:extLst>
      <p:ext uri="{BB962C8B-B14F-4D97-AF65-F5344CB8AC3E}">
        <p14:creationId xmlns:p14="http://schemas.microsoft.com/office/powerpoint/2010/main" val="744932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2026-10-22T11:32:19.1650000Z</dcterms:created>
  <dcterms:modified xsi:type="dcterms:W3CDTF">2026-10-22T11:32:19.1650000Z</dcterms:modified>
</coreProperties>
</file>