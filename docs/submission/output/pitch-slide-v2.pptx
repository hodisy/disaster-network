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3a08b231b143f3" /><Relationship Type="http://schemas.openxmlformats.org/officeDocument/2006/relationships/extended-properties" Target="/docProps/app.xml" Id="Radb487b55cd74400" /><Relationship Type="http://schemas.openxmlformats.org/officeDocument/2006/relationships/officeDocument" Target="/ppt/presentation.xml" Id="R54ad484c8471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b7869031dc4ad2"/>
  </p:sldMasterIdLst>
  <p:notesMasterIdLst>
    <p:notesMasterId xmlns:r="http://schemas.openxmlformats.org/officeDocument/2006/relationships" r:id="R81084202d844494a"/>
  </p:notesMasterIdLst>
  <p:sldIdLst>
    <p:sldId xmlns:r="http://schemas.openxmlformats.org/officeDocument/2006/relationships" id="256" r:id="R152e7d1441934d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0afbf62de04318" /><Relationship Type="http://schemas.openxmlformats.org/officeDocument/2006/relationships/slideMaster" Target="/ppt/slideMasters/slideMaster1.xml" Id="R2ab7869031dc4ad2" /><Relationship Type="http://schemas.openxmlformats.org/officeDocument/2006/relationships/notesMaster" Target="/ppt/notesMasters/notesMaster1.xml" Id="R81084202d844494a" /><Relationship Type="http://schemas.openxmlformats.org/officeDocument/2006/relationships/presProps" Target="/ppt/presProps.xml" Id="Rd6cf9d7886c34826" /><Relationship Type="http://schemas.openxmlformats.org/officeDocument/2006/relationships/tableStyles" Target="/ppt/tableStyles.xml" Id="Rcd988407828c406b" /><Relationship Type="http://schemas.openxmlformats.org/officeDocument/2006/relationships/slide" Target="/ppt/slides/slide1.xml" Id="R152e7d1441934d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a74972126640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ce28e7172d4d9e" /><Relationship Type="http://schemas.openxmlformats.org/officeDocument/2006/relationships/notesMaster" Target="/ppt/notesMasters/notesMaster1.xml" Id="R722f12d07a6a48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buyer: claims/assistance leaders at a French home insurer or claims administrator (TPA). Proposed first-users strategy, not existing customer traction: direct outreach and a narrowly scoped paid pilot with historical flood cases.</a:t>
            </a:r>
          </a:p>
          <a:p xmlns:a="http://schemas.openxmlformats.org/drawingml/2006/main">
            <a:r>
              <a:t>Working data flow in source: browser voice via WebRTC; Nitro executes bounded identity/policy/claim tools; PostgreSQL on Aiven holds three fictional customers, one policy each, policy text sections and Jules's reserved claim. The 80-household insurer portfolio is a separate frontend synthetic fixture, not 80 DB-backed customers. File previews remain local; no live weather, real bookings, payments or coverage approvals.</a:t>
            </a:r>
          </a:p>
          <a:p xmlns:a="http://schemas.openxmlformats.org/drawingml/2006/main">
            <a:r>
              <a:t>Evidence: bun run scripts/submission-benchmark.js. The real useInsurerWorkspace replan/applyPlan code handles one Delta Drying outage. Baseline selects the first available matching provider without remaining capacity. Both receive the same two affected missions. Baseline: zero feasible replacements, two capacity violations; application: two feasible replacements, no capacity violation. Three blocked missions and all unrelated missions are preserved. Dataset 80 households/170 people, 10 providers. This is a deterministic data/rules comparison, not an AI reasoning or production benchmark.</a:t>
            </a:r>
          </a:p>
          <a:p xmlns:a="http://schemas.openxmlformats.org/drawingml/2006/main">
            <a:r>
              <a:t>Financial hypothesis: manual 30 min × €50/hour = €25/intake. With automation, 2 min oversight + 30% escalated × 20 min = 8 min mean human time; €6.67 + assumed €2 AI/infrastructure = €8.67. Excludes software subscription, integration, maintenance, indemnities and actual field intervention costs. No measured financial result.</a:t>
            </a:r>
          </a:p>
          <a:p xmlns:a="http://schemas.openxmlformats.org/drawingml/2006/main">
            <a:r>
              <a:t>French pitch: Disaster Network relie hotline automatisée et opérations pour absorber les pics de sinistres, accélérer l’assistance et optimiser les coûts. Les règles vérifient les contraintes avant les actions; les dossiers ambigus restent à valider par un humain.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e2f78d5d144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22375d81448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75d65093740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8e830382143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5a90e3f6b45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b6222fa43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E1ECA6-DD14-421C-B427-D48177DA9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6D406F-FF40-4B41-B281-0D1F4FCB9A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E3216E-28F8-4F3E-B149-BA62A30D7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73682-BE6F-499C-ABFC-652FA4BBC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D896D9-816F-4B55-90DA-BDCC0681E5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F04FDF-1FA0-44E7-A42D-179EC68B7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8FA3FD-8BF7-4620-AE50-DD8A24B318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09FDB6-BE0C-40C0-8A52-AA1DE88E84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5C5EDD-073E-495B-8EFD-8086615F9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4F4664-DA24-494D-A501-8B05E546F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6ac2147634769" /><Relationship Type="http://schemas.openxmlformats.org/officeDocument/2006/relationships/slideLayout" Target="/ppt/slideLayouts/slideLayout1.xml" Id="Re20fdc58290e4218" /><Relationship Type="http://schemas.openxmlformats.org/officeDocument/2006/relationships/slideLayout" Target="/ppt/slideLayouts/slideLayout2.xml" Id="Rdea89edd95724d7e" /><Relationship Type="http://schemas.openxmlformats.org/officeDocument/2006/relationships/slideLayout" Target="/ppt/slideLayouts/slideLayout3.xml" Id="R6784fcc8d21047ff" /><Relationship Type="http://schemas.openxmlformats.org/officeDocument/2006/relationships/slideLayout" Target="/ppt/slideLayouts/slideLayout4.xml" Id="R7a04fee0da7d4692" /><Relationship Type="http://schemas.openxmlformats.org/officeDocument/2006/relationships/slideLayout" Target="/ppt/slideLayouts/slideLayout5.xml" Id="R32948d6497a349c6" /><Relationship Type="http://schemas.openxmlformats.org/officeDocument/2006/relationships/slideLayout" Target="/ppt/slideLayouts/slideLayout6.xml" Id="R5e98221a351b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0fdc58290e4218"/>
    <p:sldLayoutId xmlns:r="http://schemas.openxmlformats.org/officeDocument/2006/relationships" id="2147483650" r:id="Rdea89edd95724d7e"/>
    <p:sldLayoutId xmlns:r="http://schemas.openxmlformats.org/officeDocument/2006/relationships" id="2147483651" r:id="R6784fcc8d21047ff"/>
    <p:sldLayoutId xmlns:r="http://schemas.openxmlformats.org/officeDocument/2006/relationships" id="2147483652" r:id="R7a04fee0da7d4692"/>
    <p:sldLayoutId xmlns:r="http://schemas.openxmlformats.org/officeDocument/2006/relationships" id="2147483653" r:id="R32948d6497a349c6"/>
    <p:sldLayoutId xmlns:r="http://schemas.openxmlformats.org/officeDocument/2006/relationships" id="2147483654" r:id="R5e98221a351b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7d59a0363441f" /><Relationship Type="http://schemas.openxmlformats.org/officeDocument/2006/relationships/notesSlide" Target="/ppt/notesSlides/notesSlide1.xml" Id="R6252776617c741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73DA3-B57C-45EA-B8A8-78332396092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229725" y="1905000"/>
            <a:ext cx="95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ED9D1"/>
            </a:solidFill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6DF9C-3201-44A0-9567-E07DB3FF974D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9620250" y="25717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ED9D1"/>
            </a:solidFill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C52BB-6654-4088-B708-DF486F721E5D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7486650" y="257175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ED9D1"/>
            </a:solidFill>
            <a:tailEnd type="arrow" w="sm" len="sm"/>
          </a:ln>
        </p:spPr>
      </p:cxnSp>
      <p:sp>
        <p:nvSpPr>
          <p:cNvPr id="28" name="brand">
            <a:extLst xmlns:a="http://schemas.openxmlformats.org/drawingml/2006/main">
              <a:ext uri="{FF2B5EF4-FFF2-40B4-BE49-F238E27FC236}">
                <a16:creationId xmlns:a16="http://schemas.microsoft.com/office/drawing/2014/main" id="{E9D620E6-235C-4E08-8312-F61E0CD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Disaster Network</a:t>
            </a:r>
          </a:p>
        </p:txBody>
      </p:sp>
      <p:sp>
        <p:nvSpPr>
          <p:cNvPr id="2" name="category">
            <a:extLst xmlns:a="http://schemas.openxmlformats.org/drawingml/2006/main">
              <a:ext uri="{FF2B5EF4-FFF2-40B4-BE49-F238E27FC236}">
                <a16:creationId xmlns:a16="http://schemas.microsoft.com/office/drawing/2014/main" id="{F7750D99-38DA-496F-A4BB-57452BC6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7D5C"/>
                </a:solidFill>
                <a:latin typeface="Arial"/>
                <a:ea typeface="Arial"/>
                <a:cs typeface="Arial"/>
              </a:rPr>
              <a:t>AI-native crisis operations for insurers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8188DEDB-EC77-40A7-A053-878584CB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Keep claims moving</a:t>
            </a:r>
          </a:p>
          <a:p xmlns:a="http://schemas.openxmlformats.org/drawingml/2006/main">
            <a: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when crisis hits.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7510533F-EE89-4F34-989A-471C4843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542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Automate the first call.</a:t>
            </a:r>
          </a:p>
          <a:p xmlns:a="http://schemas.openxmlformats.org/drawingml/2006/main">
            <a: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Coordinate the response at scale.</a:t>
            </a:r>
          </a:p>
        </p:txBody>
      </p:sp>
      <p:sp>
        <p:nvSpPr>
          <p:cNvPr id="5" name="value">
            <a:extLst xmlns:a="http://schemas.openxmlformats.org/drawingml/2006/main">
              <a:ext uri="{FF2B5EF4-FFF2-40B4-BE49-F238E27FC236}">
                <a16:creationId xmlns:a16="http://schemas.microsoft.com/office/drawing/2014/main" id="{35DAE6D1-142B-4CA9-A766-F3293DBB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Faster assistance. Optimized costs.</a:t>
            </a:r>
          </a:p>
        </p:txBody>
      </p:sp>
      <p:sp>
        <p:nvSpPr>
          <p:cNvPr id="6" name="database">
            <a:extLst xmlns:a="http://schemas.openxmlformats.org/drawingml/2006/main">
              <a:ext uri="{FF2B5EF4-FFF2-40B4-BE49-F238E27FC236}">
                <a16:creationId xmlns:a16="http://schemas.microsoft.com/office/drawing/2014/main" id="{E6EE31B7-B206-4627-B56B-D096A3F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33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Aiven PostgreSQL</a:t>
            </a:r>
          </a:p>
          <a:p xmlns:a="http://schemas.openxmlformats.org/drawingml/2006/main">
            <a: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Identity · Policy · Claim</a:t>
            </a:r>
          </a:p>
        </p:txBody>
      </p:sp>
      <p:sp>
        <p:nvSpPr>
          <p:cNvPr id="7" name="hotline-node">
            <a:extLst xmlns:a="http://schemas.openxmlformats.org/drawingml/2006/main">
              <a:ext uri="{FF2B5EF4-FFF2-40B4-BE49-F238E27FC236}">
                <a16:creationId xmlns:a16="http://schemas.microsoft.com/office/drawing/2014/main" id="{AB95755A-78F6-486C-A509-86396CA6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14288">
            <a:solidFill>
              <a:srgbClr val="CED9D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verified-node">
            <a:extLst xmlns:a="http://schemas.openxmlformats.org/drawingml/2006/main">
              <a:ext uri="{FF2B5EF4-FFF2-40B4-BE49-F238E27FC236}">
                <a16:creationId xmlns:a16="http://schemas.microsoft.com/office/drawing/2014/main" id="{1B41C18A-95CA-425B-BECA-0F0D8191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1E8"/>
          </a:solidFill>
          <a:ln xmlns:a="http://schemas.openxmlformats.org/drawingml/2006/main" w="14288">
            <a:solidFill>
              <a:srgbClr val="A9C8B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operations-node">
            <a:extLst xmlns:a="http://schemas.openxmlformats.org/drawingml/2006/main">
              <a:ext uri="{FF2B5EF4-FFF2-40B4-BE49-F238E27FC236}">
                <a16:creationId xmlns:a16="http://schemas.microsoft.com/office/drawing/2014/main" id="{C3243ABB-3149-4B3A-94E1-5F98EBA5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66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14288">
            <a:solidFill>
              <a:srgbClr val="CED9D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hotline-label">
            <a:extLst xmlns:a="http://schemas.openxmlformats.org/drawingml/2006/main">
              <a:ext uri="{FF2B5EF4-FFF2-40B4-BE49-F238E27FC236}">
                <a16:creationId xmlns:a16="http://schemas.microsoft.com/office/drawing/2014/main" id="{74DA82E2-AD79-406A-A62F-786868B0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Hotline</a:t>
            </a:r>
          </a:p>
        </p:txBody>
      </p:sp>
      <p:sp>
        <p:nvSpPr>
          <p:cNvPr id="14" name="hotline-subtitle">
            <a:extLst xmlns:a="http://schemas.openxmlformats.org/drawingml/2006/main">
              <a:ext uri="{FF2B5EF4-FFF2-40B4-BE49-F238E27FC236}">
                <a16:creationId xmlns:a16="http://schemas.microsoft.com/office/drawing/2014/main" id="{118E7B4F-60E0-44FA-8B86-E1B3000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Voice intake</a:t>
            </a:r>
          </a:p>
        </p:txBody>
      </p:sp>
      <p:sp>
        <p:nvSpPr>
          <p:cNvPr id="15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3EBADC24-5917-47F8-83BA-EC6A784D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Verified claim</a:t>
            </a:r>
          </a:p>
        </p:txBody>
      </p:sp>
      <p:sp>
        <p:nvSpPr>
          <p:cNvPr id="16" name="verified-subtitle">
            <a:extLst xmlns:a="http://schemas.openxmlformats.org/drawingml/2006/main">
              <a:ext uri="{FF2B5EF4-FFF2-40B4-BE49-F238E27FC236}">
                <a16:creationId xmlns:a16="http://schemas.microsoft.com/office/drawing/2014/main" id="{4BCB6DBC-5BAE-4D50-A62C-17E2CBA7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81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Checks before action</a:t>
            </a:r>
          </a:p>
        </p:txBody>
      </p:sp>
      <p:sp>
        <p:nvSpPr>
          <p:cNvPr id="17" name="operations-label">
            <a:extLst xmlns:a="http://schemas.openxmlformats.org/drawingml/2006/main">
              <a:ext uri="{FF2B5EF4-FFF2-40B4-BE49-F238E27FC236}">
                <a16:creationId xmlns:a16="http://schemas.microsoft.com/office/drawing/2014/main" id="{D48A1080-6D27-482F-A4BD-480D90CA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48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8" name="operations-subtitle">
            <a:extLst xmlns:a="http://schemas.openxmlformats.org/drawingml/2006/main">
              <a:ext uri="{FF2B5EF4-FFF2-40B4-BE49-F238E27FC236}">
                <a16:creationId xmlns:a16="http://schemas.microsoft.com/office/drawing/2014/main" id="{78A70866-79D5-4304-8C65-13A269E2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813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Capacity + access</a:t>
            </a:r>
          </a:p>
        </p:txBody>
      </p:sp>
      <p:sp>
        <p:nvSpPr>
          <p:cNvPr id="19" name="proof-number">
            <a:extLst xmlns:a="http://schemas.openxmlformats.org/drawingml/2006/main">
              <a:ext uri="{FF2B5EF4-FFF2-40B4-BE49-F238E27FC236}">
                <a16:creationId xmlns:a16="http://schemas.microsoft.com/office/drawing/2014/main" id="{CB4C22CB-C8A2-48C6-BF2F-F852A78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52875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20" name="proof-explanation">
            <a:extLst xmlns:a="http://schemas.openxmlformats.org/drawingml/2006/main">
              <a:ext uri="{FF2B5EF4-FFF2-40B4-BE49-F238E27FC236}">
                <a16:creationId xmlns:a16="http://schemas.microsoft.com/office/drawing/2014/main" id="{9F164FC0-04AD-45FE-B3F6-E258E81F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valid reassignments</a:t>
            </a:r>
          </a:p>
          <a:p xmlns:a="http://schemas.openxmlformats.org/drawingml/2006/main">
            <a: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vs 0/2 without capacity data</a:t>
            </a:r>
          </a:p>
        </p:txBody>
      </p:sp>
      <p:sp>
        <p:nvSpPr>
          <p:cNvPr id="21" name="proof-scope">
            <a:extLst xmlns:a="http://schemas.openxmlformats.org/drawingml/2006/main">
              <a:ext uri="{FF2B5EF4-FFF2-40B4-BE49-F238E27FC236}">
                <a16:creationId xmlns:a16="http://schemas.microsoft.com/office/drawing/2014/main" id="{F441975B-8038-4ACD-8496-B3C3331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386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Rules benchmark · One synthetic outage · 3 blocked missions preserved</a:t>
            </a:r>
          </a:p>
        </p:txBody>
      </p:sp>
      <p:sp>
        <p:nvSpPr>
          <p:cNvPr id="22" name="for-label">
            <a:extLst xmlns:a="http://schemas.openxmlformats.org/drawingml/2006/main">
              <a:ext uri="{FF2B5EF4-FFF2-40B4-BE49-F238E27FC236}">
                <a16:creationId xmlns:a16="http://schemas.microsoft.com/office/drawing/2014/main" id="{200DB1E9-9B0C-4040-9640-1CB9BA97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9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23" name="for-copy">
            <a:extLst xmlns:a="http://schemas.openxmlformats.org/drawingml/2006/main">
              <a:ext uri="{FF2B5EF4-FFF2-40B4-BE49-F238E27FC236}">
                <a16:creationId xmlns:a16="http://schemas.microsoft.com/office/drawing/2014/main" id="{32174624-EB82-418C-B4B3-7F9235AD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Claims and assistance teams</a:t>
            </a:r>
          </a:p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at insurers and TPAs</a:t>
            </a:r>
          </a:p>
        </p:txBody>
      </p:sp>
      <p:sp>
        <p:nvSpPr>
          <p:cNvPr id="24" name="why-label">
            <a:extLst xmlns:a="http://schemas.openxmlformats.org/drawingml/2006/main">
              <a:ext uri="{FF2B5EF4-FFF2-40B4-BE49-F238E27FC236}">
                <a16:creationId xmlns:a16="http://schemas.microsoft.com/office/drawing/2014/main" id="{976B734B-788C-4B0C-87CB-4EDB30F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419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25" name="why-copy">
            <a:extLst xmlns:a="http://schemas.openxmlformats.org/drawingml/2006/main">
              <a:ext uri="{FF2B5EF4-FFF2-40B4-BE49-F238E27FC236}">
                <a16:creationId xmlns:a16="http://schemas.microsoft.com/office/drawing/2014/main" id="{659D68A2-36EA-4C4B-BE72-C203E19A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781675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Claim surges outpace teams.</a:t>
            </a:r>
          </a:p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Voice agents can now act.</a:t>
            </a:r>
          </a:p>
        </p:txBody>
      </p:sp>
      <p:sp>
        <p:nvSpPr>
          <p:cNvPr id="26" name="users-label">
            <a:extLst xmlns:a="http://schemas.openxmlformats.org/drawingml/2006/main">
              <a:ext uri="{FF2B5EF4-FFF2-40B4-BE49-F238E27FC236}">
                <a16:creationId xmlns:a16="http://schemas.microsoft.com/office/drawing/2014/main" id="{CE2A21A9-9A66-48F1-B886-CB8ACA0D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197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FIRST USERS</a:t>
            </a:r>
          </a:p>
        </p:txBody>
      </p:sp>
      <p:sp>
        <p:nvSpPr>
          <p:cNvPr id="27" name="users-copy">
            <a:extLst xmlns:a="http://schemas.openxmlformats.org/drawingml/2006/main">
              <a:ext uri="{FF2B5EF4-FFF2-40B4-BE49-F238E27FC236}">
                <a16:creationId xmlns:a16="http://schemas.microsoft.com/office/drawing/2014/main" id="{5B60D0FC-B45F-433B-A622-7466B98B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781675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One insurer. One region.</a:t>
            </a:r>
          </a:p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A focused flood-response pilot.</a:t>
            </a:r>
          </a:p>
        </p:txBody>
      </p:sp>
    </p:spTree>
    <p:extLst>
      <p:ext uri="{BB962C8B-B14F-4D97-AF65-F5344CB8AC3E}">
        <p14:creationId xmlns:p14="http://schemas.microsoft.com/office/powerpoint/2010/main" val="1797567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2026-10-22T11:31:18.1690000Z</dcterms:created>
  <dcterms:modified xsi:type="dcterms:W3CDTF">2026-10-22T11:31:18.1690000Z</dcterms:modified>
</coreProperties>
</file>